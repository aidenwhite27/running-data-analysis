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E62C57-14EC-47E3-8DDB-9FE5149258A3}" v="143" dt="2020-05-22T21:28:01.9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5/22/2020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5/22/2020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5/22/2020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5/22/2020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5/22/2020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5/22/2020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5/22/2020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5/22/2020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67503" cy="320040"/>
          </a:xfrm>
        </p:spPr>
        <p:txBody>
          <a:bodyPr/>
          <a:lstStyle>
            <a:lvl1pPr>
              <a:defRPr>
                <a:solidFill>
                  <a:srgbClr val="FFFFFF">
                    <a:alpha val="69804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90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1160EA64-D806-43AC-9DF2-F8C432F32B4C}" type="datetimeFigureOut">
              <a:rPr lang="en-US" dirty="0"/>
              <a:pPr/>
              <a:t>5/22/2020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8523" y="6236208"/>
            <a:ext cx="5103729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5/22/2020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5/22/2020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5/22/2020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06E45-332B-4052-91A8-79BAC4BBB2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Running Data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80815E-57D2-4E18-9975-F7CC5675EB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Aiden White</a:t>
            </a:r>
          </a:p>
        </p:txBody>
      </p:sp>
    </p:spTree>
    <p:extLst>
      <p:ext uri="{BB962C8B-B14F-4D97-AF65-F5344CB8AC3E}">
        <p14:creationId xmlns:p14="http://schemas.microsoft.com/office/powerpoint/2010/main" val="911387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group of people in a field&#10;&#10;Description automatically generated">
            <a:extLst>
              <a:ext uri="{FF2B5EF4-FFF2-40B4-BE49-F238E27FC236}">
                <a16:creationId xmlns:a16="http://schemas.microsoft.com/office/drawing/2014/main" id="{46D84CDC-CD6F-4046-A2EC-DF030C581A0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/>
          <a:srcRect r="4451" b="19743"/>
          <a:stretch/>
        </p:blipFill>
        <p:spPr>
          <a:xfrm>
            <a:off x="-1" y="10"/>
            <a:ext cx="7264401" cy="4439910"/>
          </a:xfrm>
          <a:prstGeom prst="rect">
            <a:avLst/>
          </a:prstGeom>
        </p:spPr>
      </p:pic>
      <p:pic>
        <p:nvPicPr>
          <p:cNvPr id="8" name="Content Placeholder 7" descr="A close up of a watch&#10;&#10;Description automatically generated">
            <a:extLst>
              <a:ext uri="{FF2B5EF4-FFF2-40B4-BE49-F238E27FC236}">
                <a16:creationId xmlns:a16="http://schemas.microsoft.com/office/drawing/2014/main" id="{055668BB-E119-4C9F-82F6-D042E918671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3"/>
          <a:srcRect r="43541"/>
          <a:stretch/>
        </p:blipFill>
        <p:spPr>
          <a:xfrm>
            <a:off x="7264400" y="10"/>
            <a:ext cx="4927600" cy="490932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6CF2813-35BF-4D83-A99D-E8224C00A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3753529"/>
            <a:ext cx="8991600" cy="1645759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3800">
                <a:solidFill>
                  <a:srgbClr val="262626"/>
                </a:solidFill>
              </a:rPr>
              <a:t>About</a:t>
            </a:r>
          </a:p>
        </p:txBody>
      </p:sp>
    </p:spTree>
    <p:extLst>
      <p:ext uri="{BB962C8B-B14F-4D97-AF65-F5344CB8AC3E}">
        <p14:creationId xmlns:p14="http://schemas.microsoft.com/office/powerpoint/2010/main" val="3010531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6C08373-97AF-4BBB-84E3-8DC7D6BB90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4633" y="487680"/>
            <a:ext cx="6241546" cy="3432360"/>
          </a:xfrm>
          <a:prstGeom prst="rect">
            <a:avLst/>
          </a:prstGeom>
          <a:solidFill>
            <a:srgbClr val="FFFFFF"/>
          </a:solidFill>
          <a:ln w="19050" cap="sq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41575D28-281F-4E78-8BB0-D426F4AEF2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366" y="1044979"/>
            <a:ext cx="5598078" cy="2351192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B425648-52FB-4CE2-A1C4-6719A7FB69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87045" y="643467"/>
            <a:ext cx="4018021" cy="2499282"/>
          </a:xfrm>
          <a:prstGeom prst="rect">
            <a:avLst/>
          </a:prstGeom>
          <a:solidFill>
            <a:schemeClr val="tx1">
              <a:lumMod val="50000"/>
              <a:lumOff val="5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D0F514A-A377-408D-A524-2F61FDDC42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80160" y="4080063"/>
            <a:ext cx="5446018" cy="1998619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53C6738-E83E-4971-B268-931E12D85E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87046" y="3303616"/>
            <a:ext cx="4813602" cy="2775066"/>
          </a:xfrm>
          <a:prstGeom prst="rect">
            <a:avLst/>
          </a:prstGeom>
          <a:solidFill>
            <a:srgbClr val="FFFFFF"/>
          </a:solidFill>
          <a:ln w="19050" cap="sq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screenshot of a cell phone&#10;&#10;Description automatically generated">
            <a:extLst>
              <a:ext uri="{FF2B5EF4-FFF2-40B4-BE49-F238E27FC236}">
                <a16:creationId xmlns:a16="http://schemas.microsoft.com/office/drawing/2014/main" id="{2CA3D8B8-3B56-4351-A6B7-A7F30CABC3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9188" y="3487762"/>
            <a:ext cx="4229317" cy="2406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3705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1">
            <a:extLst>
              <a:ext uri="{FF2B5EF4-FFF2-40B4-BE49-F238E27FC236}">
                <a16:creationId xmlns:a16="http://schemas.microsoft.com/office/drawing/2014/main" id="{2C25DD4D-AF7C-475A-A237-1E6041A940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491851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AA3C20-871D-45F2-9EED-C2035A963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4269282"/>
            <a:ext cx="8991600" cy="1264762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3200" cap="none" dirty="0">
                <a:solidFill>
                  <a:srgbClr val="262626"/>
                </a:solidFill>
              </a:rPr>
              <a:t>Q1: What are the best predictors of average running pace?</a:t>
            </a:r>
          </a:p>
        </p:txBody>
      </p:sp>
      <p:pic>
        <p:nvPicPr>
          <p:cNvPr id="5" name="Content Placeholder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69F6D837-5ABB-400B-B147-7DE5FF8BB4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18466" y="352440"/>
            <a:ext cx="3744341" cy="3301307"/>
          </a:xfrm>
          <a:prstGeom prst="rect">
            <a:avLst/>
          </a:prstGeom>
        </p:spPr>
      </p:pic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901191F3-D87E-4283-9434-DAD43247DA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7435" y="243068"/>
            <a:ext cx="5226099" cy="3945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6545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FA5F3-A383-4E51-9BD6-B19B3296E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620" y="364228"/>
            <a:ext cx="4486656" cy="1141497"/>
          </a:xfrm>
        </p:spPr>
        <p:txBody>
          <a:bodyPr/>
          <a:lstStyle/>
          <a:p>
            <a:r>
              <a:rPr lang="en-US" cap="none" dirty="0"/>
              <a:t>Determining Influential Variables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C6A56F-709B-4252-B3BD-B86E8D2DBF3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9" descr="A screenshot of a cell phone&#10;&#10;Description automatically generated">
            <a:extLst>
              <a:ext uri="{FF2B5EF4-FFF2-40B4-BE49-F238E27FC236}">
                <a16:creationId xmlns:a16="http://schemas.microsoft.com/office/drawing/2014/main" id="{1382F5AB-B339-47EC-BA2F-1369C2A33F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6000" y="353437"/>
            <a:ext cx="3497176" cy="6151125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D50A2ACF-EAF6-4A00-AB1F-0883F54F3F73}"/>
              </a:ext>
            </a:extLst>
          </p:cNvPr>
          <p:cNvGrpSpPr/>
          <p:nvPr/>
        </p:nvGrpSpPr>
        <p:grpSpPr>
          <a:xfrm>
            <a:off x="488243" y="2197052"/>
            <a:ext cx="4858979" cy="3675428"/>
            <a:chOff x="3995348" y="373579"/>
            <a:chExt cx="4858979" cy="3675428"/>
          </a:xfrm>
        </p:grpSpPr>
        <p:pic>
          <p:nvPicPr>
            <p:cNvPr id="14" name="Picture 13" descr="A screenshot of a cell phone&#10;&#10;Description automatically generated">
              <a:extLst>
                <a:ext uri="{FF2B5EF4-FFF2-40B4-BE49-F238E27FC236}">
                  <a16:creationId xmlns:a16="http://schemas.microsoft.com/office/drawing/2014/main" id="{3C9AD926-E7CD-42B6-B9B3-E78F38C0FC0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97105" y="373579"/>
              <a:ext cx="4657222" cy="3675428"/>
            </a:xfrm>
            <a:prstGeom prst="rect">
              <a:avLst/>
            </a:prstGeom>
          </p:spPr>
        </p:pic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70E769F-B4C1-41CB-8E5A-169354EB95D8}"/>
                </a:ext>
              </a:extLst>
            </p:cNvPr>
            <p:cNvSpPr/>
            <p:nvPr/>
          </p:nvSpPr>
          <p:spPr>
            <a:xfrm>
              <a:off x="3995348" y="1640545"/>
              <a:ext cx="3510352" cy="1141496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AE9800D9-EE03-4DAB-8254-DBF881635CB6}"/>
              </a:ext>
            </a:extLst>
          </p:cNvPr>
          <p:cNvSpPr txBox="1"/>
          <p:nvPr/>
        </p:nvSpPr>
        <p:spPr>
          <a:xfrm>
            <a:off x="3158871" y="1827720"/>
            <a:ext cx="13646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Model Score</a:t>
            </a:r>
          </a:p>
        </p:txBody>
      </p:sp>
    </p:spTree>
    <p:extLst>
      <p:ext uri="{BB962C8B-B14F-4D97-AF65-F5344CB8AC3E}">
        <p14:creationId xmlns:p14="http://schemas.microsoft.com/office/powerpoint/2010/main" val="29913816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photo, people, bird, table&#10;&#10;Description automatically generated">
            <a:extLst>
              <a:ext uri="{FF2B5EF4-FFF2-40B4-BE49-F238E27FC236}">
                <a16:creationId xmlns:a16="http://schemas.microsoft.com/office/drawing/2014/main" id="{59C5C19D-F51E-4F45-83DD-30DE540C80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199" y="373909"/>
            <a:ext cx="8400466" cy="604721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0493234-6953-4ECC-B436-C943C5C76AF9}"/>
              </a:ext>
            </a:extLst>
          </p:cNvPr>
          <p:cNvSpPr txBox="1"/>
          <p:nvPr/>
        </p:nvSpPr>
        <p:spPr>
          <a:xfrm>
            <a:off x="8874126" y="1809749"/>
            <a:ext cx="311467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/>
              <a:t>Best Predictors:</a:t>
            </a:r>
          </a:p>
          <a:p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Avg Stride Length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Max Cadence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Avg Cadence</a:t>
            </a:r>
          </a:p>
        </p:txBody>
      </p:sp>
    </p:spTree>
    <p:extLst>
      <p:ext uri="{BB962C8B-B14F-4D97-AF65-F5344CB8AC3E}">
        <p14:creationId xmlns:p14="http://schemas.microsoft.com/office/powerpoint/2010/main" val="20971547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close up of a map&#10;&#10;Description automatically generated">
            <a:extLst>
              <a:ext uri="{FF2B5EF4-FFF2-40B4-BE49-F238E27FC236}">
                <a16:creationId xmlns:a16="http://schemas.microsoft.com/office/drawing/2014/main" id="{418200FF-B851-4FAD-8329-58CE863D8E6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295" r="10294"/>
          <a:stretch/>
        </p:blipFill>
        <p:spPr>
          <a:xfrm>
            <a:off x="20" y="10"/>
            <a:ext cx="7537684" cy="6857990"/>
          </a:xfrm>
          <a:prstGeom prst="rect">
            <a:avLst/>
          </a:prstGeom>
        </p:spPr>
      </p:pic>
      <p:sp>
        <p:nvSpPr>
          <p:cNvPr id="16" name="Rectangle 13">
            <a:extLst>
              <a:ext uri="{FF2B5EF4-FFF2-40B4-BE49-F238E27FC236}">
                <a16:creationId xmlns:a16="http://schemas.microsoft.com/office/drawing/2014/main" id="{6D30FAEA-9AA7-48D9-92FC-10E00C1320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7704" y="6740"/>
            <a:ext cx="465429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DAC155-DCA2-40FE-97F5-D773B1213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3524" y="1105680"/>
            <a:ext cx="5928360" cy="1188720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sz="2600" cap="none" dirty="0"/>
              <a:t>Q2: Is run location correlated with average pace (and other variables?)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E899FA-8A25-4090-B7DC-1BCDF54EB65A}"/>
              </a:ext>
            </a:extLst>
          </p:cNvPr>
          <p:cNvSpPr txBox="1"/>
          <p:nvPr/>
        </p:nvSpPr>
        <p:spPr>
          <a:xfrm>
            <a:off x="8125433" y="3932313"/>
            <a:ext cx="3478837" cy="13090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u="sng" dirty="0">
                <a:solidFill>
                  <a:schemeClr val="bg1"/>
                </a:solidFill>
              </a:rPr>
              <a:t>Model: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bg1"/>
                </a:solidFill>
              </a:rPr>
              <a:t>K-Means Clustering</a:t>
            </a:r>
          </a:p>
        </p:txBody>
      </p:sp>
    </p:spTree>
    <p:extLst>
      <p:ext uri="{BB962C8B-B14F-4D97-AF65-F5344CB8AC3E}">
        <p14:creationId xmlns:p14="http://schemas.microsoft.com/office/powerpoint/2010/main" val="7014595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BFA3C26-683D-403D-9729-610F8585A3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1" y="1734890"/>
            <a:ext cx="5789643" cy="3647474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16F97B9-23C6-4EF1-AED7-D5E3C26A64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096000" y="1142999"/>
            <a:ext cx="0" cy="457200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E165D67D-08AF-4469-9987-016DD6782C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7280" y="1667632"/>
            <a:ext cx="5994208" cy="3731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6907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5041AB2-A9B4-4D3F-B120-38E7860A8F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334" y="804334"/>
            <a:ext cx="10583332" cy="5249332"/>
          </a:xfrm>
          <a:prstGeom prst="rect">
            <a:avLst/>
          </a:prstGeom>
          <a:solidFill>
            <a:srgbClr val="FFFFFF"/>
          </a:solidFill>
          <a:ln w="190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picture containing text&#10;&#10;Description automatically generated">
            <a:extLst>
              <a:ext uri="{FF2B5EF4-FFF2-40B4-BE49-F238E27FC236}">
                <a16:creationId xmlns:a16="http://schemas.microsoft.com/office/drawing/2014/main" id="{EEA3A423-52E8-4610-94FE-17AD0960548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787"/>
          <a:stretch/>
        </p:blipFill>
        <p:spPr>
          <a:xfrm>
            <a:off x="1999483" y="1124712"/>
            <a:ext cx="8193033" cy="4608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9389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5041AB2-A9B4-4D3F-B120-38E7860A8F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334" y="804334"/>
            <a:ext cx="10583332" cy="5249332"/>
          </a:xfrm>
          <a:prstGeom prst="rect">
            <a:avLst/>
          </a:prstGeom>
          <a:solidFill>
            <a:srgbClr val="FFFFFF"/>
          </a:solidFill>
          <a:ln w="190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111F6CF-F32E-4653-B043-3CA5B46F721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067"/>
          <a:stretch/>
        </p:blipFill>
        <p:spPr>
          <a:xfrm>
            <a:off x="1999497" y="1124712"/>
            <a:ext cx="8193005" cy="4608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066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map&#10;&#10;Description automatically generated">
            <a:extLst>
              <a:ext uri="{FF2B5EF4-FFF2-40B4-BE49-F238E27FC236}">
                <a16:creationId xmlns:a16="http://schemas.microsoft.com/office/drawing/2014/main" id="{C0D27969-B538-4F54-99DE-BE501ED36CA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773" b="16260"/>
          <a:stretch/>
        </p:blipFill>
        <p:spPr>
          <a:xfrm>
            <a:off x="20" y="10"/>
            <a:ext cx="12191980" cy="4571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70AB5B-5B0A-40FD-B53C-5E107ED76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3753529"/>
            <a:ext cx="8991600" cy="1645759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2900">
                <a:solidFill>
                  <a:srgbClr val="262626"/>
                </a:solidFill>
              </a:rPr>
              <a:t>Q3: Can I predict average heart rate using other data from the run?</a:t>
            </a:r>
          </a:p>
        </p:txBody>
      </p:sp>
    </p:spTree>
    <p:extLst>
      <p:ext uri="{BB962C8B-B14F-4D97-AF65-F5344CB8AC3E}">
        <p14:creationId xmlns:p14="http://schemas.microsoft.com/office/powerpoint/2010/main" val="32759413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9">
            <a:extLst>
              <a:ext uri="{FF2B5EF4-FFF2-40B4-BE49-F238E27FC236}">
                <a16:creationId xmlns:a16="http://schemas.microsoft.com/office/drawing/2014/main" id="{705DD221-7786-44A9-945B-F8E642A9F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11">
            <a:extLst>
              <a:ext uri="{FF2B5EF4-FFF2-40B4-BE49-F238E27FC236}">
                <a16:creationId xmlns:a16="http://schemas.microsoft.com/office/drawing/2014/main" id="{5ADAAC83-6C3F-43C5-96C4-6FDA03392B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640080"/>
            <a:ext cx="6572503" cy="526117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A flock of white map&#10;&#10;Description automatically generated">
            <a:extLst>
              <a:ext uri="{FF2B5EF4-FFF2-40B4-BE49-F238E27FC236}">
                <a16:creationId xmlns:a16="http://schemas.microsoft.com/office/drawing/2014/main" id="{47F3B06D-511E-4B65-BA43-F6101D0F0F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397" y="1045730"/>
            <a:ext cx="5943631" cy="4457722"/>
          </a:xfrm>
          <a:prstGeom prst="rect">
            <a:avLst/>
          </a:prstGeom>
        </p:spPr>
      </p:pic>
      <p:sp>
        <p:nvSpPr>
          <p:cNvPr id="23" name="Rectangle 13">
            <a:extLst>
              <a:ext uri="{FF2B5EF4-FFF2-40B4-BE49-F238E27FC236}">
                <a16:creationId xmlns:a16="http://schemas.microsoft.com/office/drawing/2014/main" id="{95AE8F05-A7EA-4AE9-88D2-700581D77A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9436" y="640080"/>
            <a:ext cx="3702888" cy="5261170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15">
            <a:extLst>
              <a:ext uri="{FF2B5EF4-FFF2-40B4-BE49-F238E27FC236}">
                <a16:creationId xmlns:a16="http://schemas.microsoft.com/office/drawing/2014/main" id="{43C7C019-BAFE-4BE3-B269-79CBD3EB7D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23812" y="806357"/>
            <a:ext cx="3374136" cy="4928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67ADEEB0-B307-4B63-806C-43E2B1F50F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0097" y="1823173"/>
            <a:ext cx="3041566" cy="2894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559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99ECD84-C10C-4D8E-BBDC-48976DFE98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6668" y="640080"/>
            <a:ext cx="10915252" cy="5263134"/>
          </a:xfrm>
          <a:prstGeom prst="rect">
            <a:avLst/>
          </a:prstGeom>
          <a:noFill/>
          <a:ln w="31750" cap="sq">
            <a:solidFill>
              <a:schemeClr val="accent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BC89463-D318-4EC4-8DC8-2A360E1946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1520" y="802767"/>
            <a:ext cx="10585166" cy="49377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E0C4A9-F04B-4B57-A2F7-8DBA1D926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0624" y="1122807"/>
            <a:ext cx="9954443" cy="4297680"/>
          </a:xfrm>
          <a:noFill/>
          <a:ln>
            <a:noFill/>
          </a:ln>
        </p:spPr>
        <p:txBody>
          <a:bodyPr>
            <a:normAutofit/>
          </a:bodyPr>
          <a:lstStyle/>
          <a:p>
            <a:r>
              <a:rPr lang="en-US" sz="6000" dirty="0">
                <a:solidFill>
                  <a:srgbClr val="FFFFFF"/>
                </a:solidFill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589533692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Custom 1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418AB3"/>
      </a:accent2>
      <a:accent3>
        <a:srgbClr val="418AB3"/>
      </a:accent3>
      <a:accent4>
        <a:srgbClr val="838383"/>
      </a:accent4>
      <a:accent5>
        <a:srgbClr val="418AB3"/>
      </a:accent5>
      <a:accent6>
        <a:srgbClr val="418AB3"/>
      </a:accent6>
      <a:hlink>
        <a:srgbClr val="418AB3"/>
      </a:hlink>
      <a:folHlink>
        <a:srgbClr val="B2B2B2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A425FB89-E954-4A2A-81DC-D90804A94DB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2</TotalTime>
  <Words>70</Words>
  <Application>Microsoft Office PowerPoint</Application>
  <PresentationFormat>Widescreen</PresentationFormat>
  <Paragraphs>17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Gill Sans MT</vt:lpstr>
      <vt:lpstr>Parcel</vt:lpstr>
      <vt:lpstr>Running Data Analysis</vt:lpstr>
      <vt:lpstr>About</vt:lpstr>
      <vt:lpstr>PowerPoint Presentation</vt:lpstr>
      <vt:lpstr>Q1: What are the best predictors of average running pace?</vt:lpstr>
      <vt:lpstr>Determining Influential Variables</vt:lpstr>
      <vt:lpstr>PowerPoint Presentation</vt:lpstr>
      <vt:lpstr>Q2: Is run location correlated with average pace (and other variables?)</vt:lpstr>
      <vt:lpstr>PowerPoint Presentation</vt:lpstr>
      <vt:lpstr>PowerPoint Presentation</vt:lpstr>
      <vt:lpstr>PowerPoint Presentation</vt:lpstr>
      <vt:lpstr>Q3: Can I predict average heart rate using other data from the run?</vt:lpstr>
      <vt:lpstr>PowerPoint Presentation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Running Data Analysis</dc:title>
  <dc:creator>Aiden White</dc:creator>
  <cp:lastModifiedBy>Aiden White</cp:lastModifiedBy>
  <cp:revision>1</cp:revision>
  <dcterms:created xsi:type="dcterms:W3CDTF">2020-05-22T21:25:48Z</dcterms:created>
  <dcterms:modified xsi:type="dcterms:W3CDTF">2020-05-23T03:53:49Z</dcterms:modified>
</cp:coreProperties>
</file>